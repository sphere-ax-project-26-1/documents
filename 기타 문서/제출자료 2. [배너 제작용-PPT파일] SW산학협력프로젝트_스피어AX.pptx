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3" r:id="rId5"/>
    <p:sldId id="26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898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63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311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38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00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617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12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714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40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143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151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4E94E-DBF1-4B2A-9CA1-B750FDC380FE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690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92401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solidFill>
                  <a:srgbClr val="002060"/>
                </a:solidFill>
                <a:latin typeface="+mn-ea"/>
              </a:rPr>
              <a:t>AI </a:t>
            </a:r>
            <a:r>
              <a:rPr lang="ko-KR" altLang="en-US" sz="3600" dirty="0">
                <a:solidFill>
                  <a:srgbClr val="002060"/>
                </a:solidFill>
                <a:latin typeface="+mn-ea"/>
              </a:rPr>
              <a:t>기반 어류 판별 시스템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581891" y="4663440"/>
            <a:ext cx="11039302" cy="180386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0" y="2014225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기업명 </a:t>
            </a:r>
            <a:r>
              <a:rPr lang="en-US" altLang="ko-KR" sz="2000" dirty="0"/>
              <a:t>:   </a:t>
            </a:r>
            <a:r>
              <a:rPr lang="ko-KR" altLang="en-US" sz="2000" dirty="0" err="1"/>
              <a:t>스피어</a:t>
            </a:r>
            <a:r>
              <a:rPr lang="ko-KR" altLang="en-US" sz="2000" dirty="0"/>
              <a:t> </a:t>
            </a:r>
            <a:r>
              <a:rPr lang="en-US" altLang="ko-KR" sz="2000" dirty="0"/>
              <a:t>AX                                     </a:t>
            </a:r>
            <a:r>
              <a:rPr lang="ko-KR" altLang="en-US" sz="2000" dirty="0"/>
              <a:t>멘토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김호영</a:t>
            </a:r>
            <a:r>
              <a:rPr lang="ko-KR" altLang="en-US" sz="2000" dirty="0"/>
              <a:t> 멘토님</a:t>
            </a:r>
            <a:r>
              <a:rPr lang="en-US" altLang="ko-KR" sz="2000" dirty="0"/>
              <a:t> </a:t>
            </a:r>
            <a:endParaRPr lang="ko-KR" altLang="en-US" sz="2000" dirty="0"/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18638"/>
              </p:ext>
            </p:extLst>
          </p:nvPr>
        </p:nvGraphicFramePr>
        <p:xfrm>
          <a:off x="2379613" y="2967455"/>
          <a:ext cx="6954980" cy="85199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738745">
                  <a:extLst>
                    <a:ext uri="{9D8B030D-6E8A-4147-A177-3AD203B41FA5}">
                      <a16:colId xmlns:a16="http://schemas.microsoft.com/office/drawing/2014/main" val="3879655121"/>
                    </a:ext>
                  </a:extLst>
                </a:gridCol>
                <a:gridCol w="1738745">
                  <a:extLst>
                    <a:ext uri="{9D8B030D-6E8A-4147-A177-3AD203B41FA5}">
                      <a16:colId xmlns:a16="http://schemas.microsoft.com/office/drawing/2014/main" val="2052876400"/>
                    </a:ext>
                  </a:extLst>
                </a:gridCol>
                <a:gridCol w="1738745">
                  <a:extLst>
                    <a:ext uri="{9D8B030D-6E8A-4147-A177-3AD203B41FA5}">
                      <a16:colId xmlns:a16="http://schemas.microsoft.com/office/drawing/2014/main" val="1287686911"/>
                    </a:ext>
                  </a:extLst>
                </a:gridCol>
                <a:gridCol w="1738745">
                  <a:extLst>
                    <a:ext uri="{9D8B030D-6E8A-4147-A177-3AD203B41FA5}">
                      <a16:colId xmlns:a16="http://schemas.microsoft.com/office/drawing/2014/main" val="3437281430"/>
                    </a:ext>
                  </a:extLst>
                </a:gridCol>
              </a:tblGrid>
              <a:tr h="425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/>
                        <a:t>컴퓨터학부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/>
                        <a:t>컴퓨터학부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 err="1"/>
                        <a:t>컴퓨터학부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컴퓨터학부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9295558"/>
                  </a:ext>
                </a:extLst>
              </a:tr>
              <a:tr h="425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노성은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서지희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이영빈</a:t>
                      </a:r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팀장</a:t>
                      </a:r>
                      <a:r>
                        <a:rPr lang="en-US" altLang="ko-KR" sz="2000" dirty="0"/>
                        <a:t>)</a:t>
                      </a:r>
                      <a:endParaRPr lang="ko-KR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정혜민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85899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37900" y="4745024"/>
            <a:ext cx="106384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○ </a:t>
            </a:r>
            <a:r>
              <a:rPr lang="ko-KR" altLang="ko-KR" sz="2000" dirty="0"/>
              <a:t>배경: 생태계 교란 어종의 개체수 급증 -&gt; 수생태계 모니터링 필요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○ </a:t>
            </a:r>
            <a:r>
              <a:rPr lang="ko-KR" altLang="ko-KR" sz="2000" dirty="0"/>
              <a:t>기존 모니터링 시스템은 수중 카메라 영상을 육안으로 분석 -&gt; AI 기술 도입 필요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○ </a:t>
            </a:r>
            <a:r>
              <a:rPr lang="ko-KR" altLang="ko-KR" sz="2000" dirty="0"/>
              <a:t>목표: 딥러닝 기반 어종 판별 AI 모델 구축 및 교란 어종 현황 관리를 위한 웹 개발 </a:t>
            </a:r>
            <a:endParaRPr lang="en-US" altLang="ko-KR" sz="2000" dirty="0"/>
          </a:p>
          <a:p>
            <a:endParaRPr lang="ko-KR" altLang="en-US" sz="2000" dirty="0"/>
          </a:p>
        </p:txBody>
      </p:sp>
      <p:grpSp>
        <p:nvGrpSpPr>
          <p:cNvPr id="20" name="그룹 19"/>
          <p:cNvGrpSpPr/>
          <p:nvPr/>
        </p:nvGrpSpPr>
        <p:grpSpPr>
          <a:xfrm>
            <a:off x="581891" y="4073237"/>
            <a:ext cx="4463934" cy="448887"/>
            <a:chOff x="627842" y="1492250"/>
            <a:chExt cx="2664888" cy="444500"/>
          </a:xfrm>
        </p:grpSpPr>
        <p:pic>
          <p:nvPicPr>
            <p:cNvPr id="21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22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배경 및 목표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124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81892" y="399011"/>
            <a:ext cx="4463934" cy="448887"/>
            <a:chOff x="627842" y="1492250"/>
            <a:chExt cx="2664888" cy="444500"/>
          </a:xfrm>
        </p:grpSpPr>
        <p:pic>
          <p:nvPicPr>
            <p:cNvPr id="6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7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시스템</a:t>
              </a:r>
              <a:r>
                <a:rPr lang="en-US" altLang="ko-KR" sz="2000" b="1" dirty="0">
                  <a:solidFill>
                    <a:srgbClr val="1C5E8D"/>
                  </a:solidFill>
                  <a:latin typeface="+mn-ea"/>
                </a:rPr>
                <a:t> </a:t>
              </a: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전체 구조도</a:t>
              </a:r>
              <a:r>
                <a:rPr lang="en-US" altLang="ko-KR" sz="2000" b="1" dirty="0">
                  <a:solidFill>
                    <a:srgbClr val="1C5E8D"/>
                  </a:solidFill>
                  <a:latin typeface="+mn-ea"/>
                </a:rPr>
                <a:t>(</a:t>
              </a:r>
              <a:r>
                <a:rPr lang="ko-KR" altLang="en-US" sz="2000" b="1" dirty="0" err="1">
                  <a:solidFill>
                    <a:srgbClr val="1C5E8D"/>
                  </a:solidFill>
                  <a:latin typeface="+mn-ea"/>
                </a:rPr>
                <a:t>기술스택</a:t>
              </a: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 포함</a:t>
              </a:r>
              <a:r>
                <a:rPr lang="en-US" altLang="ko-KR" sz="2000" b="1" dirty="0">
                  <a:solidFill>
                    <a:srgbClr val="1C5E8D"/>
                  </a:solidFill>
                  <a:latin typeface="+mn-ea"/>
                </a:rPr>
                <a:t>)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6A2E198D-0D34-1794-265C-4CA8ECB42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86" y="803010"/>
            <a:ext cx="10769027" cy="591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797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81892" y="399011"/>
            <a:ext cx="4463934" cy="448887"/>
            <a:chOff x="627842" y="1492250"/>
            <a:chExt cx="2664888" cy="444500"/>
          </a:xfrm>
        </p:grpSpPr>
        <p:pic>
          <p:nvPicPr>
            <p:cNvPr id="6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7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</a:rPr>
                <a:t>구현 기능</a:t>
              </a:r>
              <a:endParaRPr lang="ko-KR" sz="2000" b="1" i="0" u="none" strike="noStrike" dirty="0">
                <a:solidFill>
                  <a:srgbClr val="1C5E8D"/>
                </a:solidFill>
              </a:endParaRPr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7C47CFAE-9F5C-D19D-8FDC-DA8BB9BB873C}"/>
              </a:ext>
            </a:extLst>
          </p:cNvPr>
          <p:cNvGrpSpPr/>
          <p:nvPr/>
        </p:nvGrpSpPr>
        <p:grpSpPr>
          <a:xfrm>
            <a:off x="374072" y="803010"/>
            <a:ext cx="9074727" cy="2830523"/>
            <a:chOff x="-748545" y="-2184774"/>
            <a:chExt cx="12099635" cy="3774032"/>
          </a:xfrm>
        </p:grpSpPr>
        <p:sp>
          <p:nvSpPr>
            <p:cNvPr id="4" name="TextBox 9">
              <a:extLst>
                <a:ext uri="{FF2B5EF4-FFF2-40B4-BE49-F238E27FC236}">
                  <a16:creationId xmlns:a16="http://schemas.microsoft.com/office/drawing/2014/main" id="{601ED16A-69C6-65F4-7158-B9B42B543224}"/>
                </a:ext>
              </a:extLst>
            </p:cNvPr>
            <p:cNvSpPr txBox="1"/>
            <p:nvPr/>
          </p:nvSpPr>
          <p:spPr>
            <a:xfrm>
              <a:off x="-748545" y="-1306579"/>
              <a:ext cx="12099635" cy="28958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3223" lvl="1" indent="-341612" algn="l">
                <a:lnSpc>
                  <a:spcPts val="443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2C2C2C"/>
                  </a:solidFill>
                  <a:ea typeface="FZShuTi" panose="02010601030101010101" pitchFamily="2" charset="-122"/>
                  <a:cs typeface="Arita Dotum Medium"/>
                  <a:sym typeface="Arita Dotum Medium"/>
                </a:rPr>
                <a:t>YOLO </a:t>
              </a:r>
              <a:r>
                <a:rPr lang="ko-KR" altLang="en-US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기반 어류 객체 탐지 모델 구축</a:t>
              </a:r>
              <a:endParaRPr lang="en-US" altLang="ko-KR" sz="2000" dirty="0">
                <a:solidFill>
                  <a:srgbClr val="2C2C2C"/>
                </a:solidFill>
                <a:ea typeface="FZShuTi" panose="02010601030101010101" pitchFamily="2" charset="-122"/>
                <a:cs typeface="Arita Dotum Medium"/>
                <a:sym typeface="Arita Dotum Medium"/>
              </a:endParaRPr>
            </a:p>
            <a:p>
              <a:pPr marL="683223" lvl="1" indent="-341612" algn="l">
                <a:lnSpc>
                  <a:spcPts val="4430"/>
                </a:lnSpc>
                <a:buFont typeface="Arial"/>
                <a:buChar char="•"/>
              </a:pPr>
              <a:r>
                <a:rPr lang="en-US" altLang="ko-KR" sz="2000" dirty="0">
                  <a:solidFill>
                    <a:srgbClr val="2C2C2C"/>
                  </a:solidFill>
                  <a:ea typeface="FZShuTi" panose="02010601030101010101" pitchFamily="2" charset="-122"/>
                  <a:cs typeface="Arita Dotum Medium"/>
                  <a:sym typeface="Arita Dotum Medium"/>
                </a:rPr>
                <a:t>1</a:t>
              </a:r>
              <a:r>
                <a:rPr lang="ko-KR" altLang="en-US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차 학습</a:t>
              </a:r>
              <a:r>
                <a:rPr lang="en-US" altLang="ko-KR" sz="2000" dirty="0">
                  <a:solidFill>
                    <a:srgbClr val="2C2C2C"/>
                  </a:solidFill>
                  <a:ea typeface="FZShuTi" panose="02010601030101010101" pitchFamily="2" charset="-122"/>
                  <a:cs typeface="Arita Dotum Medium"/>
                  <a:sym typeface="Arita Dotum Medium"/>
                </a:rPr>
                <a:t>(</a:t>
              </a:r>
              <a:r>
                <a:rPr lang="ko-KR" altLang="en-US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어류 탐지</a:t>
              </a:r>
              <a:r>
                <a:rPr lang="en-US" altLang="ko-KR" sz="2000" dirty="0">
                  <a:solidFill>
                    <a:srgbClr val="2C2C2C"/>
                  </a:solidFill>
                  <a:ea typeface="FZShuTi" panose="02010601030101010101" pitchFamily="2" charset="-122"/>
                  <a:cs typeface="Arita Dotum Medium"/>
                  <a:sym typeface="Arita Dotum Medium"/>
                </a:rPr>
                <a:t>), 2</a:t>
              </a:r>
              <a:r>
                <a:rPr lang="ko-KR" altLang="en-US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차 학습</a:t>
              </a:r>
              <a:r>
                <a:rPr lang="en-US" altLang="ko-KR" sz="2000" dirty="0">
                  <a:solidFill>
                    <a:srgbClr val="2C2C2C"/>
                  </a:solidFill>
                  <a:ea typeface="FZShuTi" panose="02010601030101010101" pitchFamily="2" charset="-122"/>
                  <a:cs typeface="Arita Dotum Medium"/>
                  <a:sym typeface="Arita Dotum Medium"/>
                </a:rPr>
                <a:t>(</a:t>
              </a:r>
              <a:r>
                <a:rPr lang="ko-KR" altLang="en-US" sz="2000" dirty="0" err="1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강준치</a:t>
              </a:r>
              <a:r>
                <a:rPr lang="ko-KR" altLang="en-US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 구별</a:t>
              </a:r>
              <a:r>
                <a:rPr lang="en-US" altLang="ko-KR" sz="2000" dirty="0">
                  <a:solidFill>
                    <a:srgbClr val="2C2C2C"/>
                  </a:solidFill>
                  <a:ea typeface="FZShuTi" panose="02010601030101010101" pitchFamily="2" charset="-122"/>
                  <a:cs typeface="Arita Dotum Medium"/>
                  <a:sym typeface="Arita Dotum Medium"/>
                </a:rPr>
                <a:t>)</a:t>
              </a:r>
              <a:r>
                <a:rPr lang="ko-KR" altLang="en-US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 진행</a:t>
              </a:r>
              <a:endParaRPr lang="en-US" altLang="ko-KR" sz="2000" dirty="0">
                <a:solidFill>
                  <a:srgbClr val="2C2C2C"/>
                </a:solidFill>
                <a:ea typeface="FZShuTi" panose="02010601030101010101" pitchFamily="2" charset="-122"/>
                <a:cs typeface="Arita Dotum Medium"/>
                <a:sym typeface="Arita Dotum Medium"/>
              </a:endParaRPr>
            </a:p>
            <a:p>
              <a:pPr marL="683223" lvl="1" indent="-341612" algn="l">
                <a:lnSpc>
                  <a:spcPts val="4430"/>
                </a:lnSpc>
                <a:buFont typeface="Arial"/>
                <a:buChar char="•"/>
              </a:pPr>
              <a:r>
                <a:rPr lang="ko-KR" altLang="en-US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주간</a:t>
              </a:r>
              <a:r>
                <a:rPr lang="en-US" altLang="ko-KR" sz="2000" dirty="0">
                  <a:solidFill>
                    <a:srgbClr val="2C2C2C"/>
                  </a:solidFill>
                  <a:ea typeface="FZShuTi" panose="02010601030101010101" pitchFamily="2" charset="-122"/>
                  <a:cs typeface="Arita Dotum Medium"/>
                  <a:sym typeface="Arita Dotum Medium"/>
                </a:rPr>
                <a:t>, </a:t>
              </a:r>
              <a:r>
                <a:rPr lang="ko-KR" altLang="en-US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야간 탐지지 총 </a:t>
              </a:r>
              <a:r>
                <a:rPr lang="en-US" altLang="ko-KR" sz="2000" dirty="0">
                  <a:solidFill>
                    <a:srgbClr val="2C2C2C"/>
                  </a:solidFill>
                  <a:ea typeface="FZShuTi" panose="02010601030101010101" pitchFamily="2" charset="-122"/>
                  <a:cs typeface="Arita Dotum Medium"/>
                  <a:sym typeface="Arita Dotum Medium"/>
                </a:rPr>
                <a:t>2,400</a:t>
              </a:r>
              <a:r>
                <a:rPr lang="ko-KR" altLang="en-US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장 </a:t>
              </a:r>
              <a:r>
                <a:rPr lang="ko-KR" altLang="en-US" sz="2000" dirty="0" err="1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라벨링</a:t>
              </a:r>
              <a:endParaRPr lang="en-US" altLang="ko-KR" sz="2000" dirty="0">
                <a:solidFill>
                  <a:srgbClr val="2C2C2C"/>
                </a:solidFill>
                <a:ea typeface="FZShuTi" panose="02010601030101010101" pitchFamily="2" charset="-122"/>
                <a:cs typeface="Arita Dotum Medium"/>
                <a:sym typeface="Arita Dotum Medium"/>
              </a:endParaRPr>
            </a:p>
            <a:p>
              <a:pPr marL="683223" lvl="1" indent="-341612" algn="l">
                <a:lnSpc>
                  <a:spcPts val="4430"/>
                </a:lnSpc>
                <a:buFont typeface="Arial"/>
                <a:buChar char="•"/>
              </a:pPr>
              <a:r>
                <a:rPr lang="ko-KR" altLang="en-US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업로드 영상 분석 후 </a:t>
              </a:r>
              <a:r>
                <a:rPr lang="ko-KR" altLang="en-US" sz="2000" dirty="0" err="1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강준치</a:t>
              </a:r>
              <a:r>
                <a:rPr lang="ko-KR" altLang="en-US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 개체 수 반환</a:t>
              </a:r>
              <a:endParaRPr lang="en-US" sz="2000" dirty="0">
                <a:solidFill>
                  <a:srgbClr val="2C2C2C"/>
                </a:solidFill>
                <a:ea typeface="FZShuTi" panose="02010601030101010101" pitchFamily="2" charset="-122"/>
                <a:cs typeface="Arita Dotum Medium"/>
                <a:sym typeface="Arita Dotum Medium"/>
              </a:endParaRPr>
            </a:p>
          </p:txBody>
        </p:sp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13D6C4CA-A0AC-3F9F-8CFF-88B040FF8371}"/>
                </a:ext>
              </a:extLst>
            </p:cNvPr>
            <p:cNvSpPr txBox="1"/>
            <p:nvPr/>
          </p:nvSpPr>
          <p:spPr>
            <a:xfrm>
              <a:off x="-332509" y="-2184774"/>
              <a:ext cx="8397089" cy="8333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759"/>
                </a:lnSpc>
              </a:pPr>
              <a:r>
                <a:rPr lang="en-US" sz="2400" b="1" dirty="0">
                  <a:solidFill>
                    <a:srgbClr val="2C2C2C"/>
                  </a:solidFill>
                  <a:ea typeface="FZShuTi" panose="02010601030101010101" pitchFamily="2" charset="-122"/>
                  <a:cs typeface="Arita Dotum Bold"/>
                  <a:sym typeface="Arita Dotum Bold"/>
                </a:rPr>
                <a:t>[AI </a:t>
              </a:r>
              <a:r>
                <a:rPr lang="ko-KR" altLang="en-US" sz="2400" b="1" dirty="0">
                  <a:solidFill>
                    <a:srgbClr val="2C2C2C"/>
                  </a:solidFill>
                  <a:ea typeface="Arita Dotum Bold"/>
                  <a:cs typeface="Arita Dotum Bold"/>
                  <a:sym typeface="Arita Dotum Bold"/>
                </a:rPr>
                <a:t>모델링 및 영상 분석 기능</a:t>
              </a:r>
              <a:r>
                <a:rPr lang="en-US" sz="2400" b="1" dirty="0">
                  <a:solidFill>
                    <a:srgbClr val="2C2C2C"/>
                  </a:solidFill>
                  <a:ea typeface="FZShuTi" panose="02010601030101010101" pitchFamily="2" charset="-122"/>
                  <a:cs typeface="Arita Dotum Bold"/>
                  <a:sym typeface="Arita Dotum Bold"/>
                </a:rPr>
                <a:t>]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A7F8D12-082D-5914-3D34-708AC512EEFE}"/>
              </a:ext>
            </a:extLst>
          </p:cNvPr>
          <p:cNvSpPr txBox="1"/>
          <p:nvPr/>
        </p:nvSpPr>
        <p:spPr>
          <a:xfrm>
            <a:off x="374073" y="4384965"/>
            <a:ext cx="9074727" cy="21718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3223" lvl="1" indent="-341612" algn="l">
              <a:lnSpc>
                <a:spcPts val="4430"/>
              </a:lnSpc>
              <a:buFont typeface="Arial"/>
              <a:buChar char="•"/>
            </a:pP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로그인</a:t>
            </a:r>
            <a:r>
              <a:rPr lang="en-US" altLang="ko-KR" sz="2000" dirty="0">
                <a:solidFill>
                  <a:srgbClr val="2C2C2C"/>
                </a:solidFill>
                <a:ea typeface="FZShuTi" panose="02010601030101010101" pitchFamily="2" charset="-122"/>
                <a:cs typeface="Arita Dotum Medium"/>
                <a:sym typeface="Arita Dotum Medium"/>
              </a:rPr>
              <a:t>/</a:t>
            </a: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회원가입</a:t>
            </a:r>
            <a:endParaRPr lang="en-US" altLang="ko-KR" sz="2000" dirty="0">
              <a:solidFill>
                <a:srgbClr val="2C2C2C"/>
              </a:solidFill>
              <a:ea typeface="FZShuTi" panose="02010601030101010101" pitchFamily="2" charset="-122"/>
              <a:cs typeface="Arita Dotum Medium"/>
              <a:sym typeface="Arita Dotum Medium"/>
            </a:endParaRPr>
          </a:p>
          <a:p>
            <a:pPr marL="683223" lvl="1" indent="-341612" algn="l">
              <a:lnSpc>
                <a:spcPts val="4430"/>
              </a:lnSpc>
              <a:buFont typeface="Arial"/>
              <a:buChar char="•"/>
            </a:pP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대시보드 지도 시각화</a:t>
            </a:r>
            <a:endParaRPr lang="en-US" altLang="ko-KR" sz="2000" dirty="0">
              <a:solidFill>
                <a:srgbClr val="2C2C2C"/>
              </a:solidFill>
              <a:ea typeface="FZShuTi" panose="02010601030101010101" pitchFamily="2" charset="-122"/>
              <a:cs typeface="Arita Dotum Medium"/>
              <a:sym typeface="Arita Dotum Medium"/>
            </a:endParaRPr>
          </a:p>
          <a:p>
            <a:pPr marL="683223" lvl="1" indent="-341612" algn="l">
              <a:lnSpc>
                <a:spcPts val="4430"/>
              </a:lnSpc>
              <a:buFont typeface="Arial"/>
              <a:buChar char="•"/>
            </a:pP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영상 업로드</a:t>
            </a:r>
            <a:endParaRPr lang="en-US" altLang="ko-KR" sz="2000" dirty="0">
              <a:solidFill>
                <a:srgbClr val="2C2C2C"/>
              </a:solidFill>
              <a:ea typeface="FZShuTi" panose="02010601030101010101" pitchFamily="2" charset="-122"/>
              <a:cs typeface="Arita Dotum Medium"/>
              <a:sym typeface="Arita Dotum Medium"/>
            </a:endParaRPr>
          </a:p>
          <a:p>
            <a:pPr marL="683223" lvl="1" indent="-341612" algn="l">
              <a:lnSpc>
                <a:spcPts val="4430"/>
              </a:lnSpc>
              <a:buFont typeface="Arial"/>
              <a:buChar char="•"/>
            </a:pP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기록 조회 </a:t>
            </a:r>
            <a:r>
              <a:rPr lang="en-US" altLang="ko-KR" sz="2000" dirty="0">
                <a:solidFill>
                  <a:srgbClr val="2C2C2C"/>
                </a:solidFill>
                <a:ea typeface="FZShuTi" panose="02010601030101010101" pitchFamily="2" charset="-122"/>
                <a:cs typeface="Arita Dotum Medium"/>
                <a:sym typeface="Arita Dotum Medium"/>
              </a:rPr>
              <a:t>/ </a:t>
            </a: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상세 분석 결과 </a:t>
            </a:r>
            <a:r>
              <a:rPr lang="ko-KR" altLang="en-US" sz="2000" dirty="0" err="1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모달</a:t>
            </a:r>
            <a:endParaRPr lang="en-US" sz="2000" dirty="0">
              <a:solidFill>
                <a:srgbClr val="2C2C2C"/>
              </a:solidFill>
              <a:ea typeface="FZShuTi" panose="02010601030101010101" pitchFamily="2" charset="-122"/>
              <a:cs typeface="Arita Dotum Medium"/>
              <a:sym typeface="Arita Dotum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DE35D1-8779-58B2-F14E-0B21E85FACB1}"/>
              </a:ext>
            </a:extLst>
          </p:cNvPr>
          <p:cNvSpPr txBox="1"/>
          <p:nvPr/>
        </p:nvSpPr>
        <p:spPr>
          <a:xfrm>
            <a:off x="686098" y="3696759"/>
            <a:ext cx="6297817" cy="62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2400" b="1" dirty="0">
                <a:solidFill>
                  <a:srgbClr val="2C2C2C"/>
                </a:solidFill>
                <a:ea typeface="FZShuTi" panose="02010601030101010101" pitchFamily="2" charset="-122"/>
                <a:cs typeface="Arita Dotum Bold"/>
                <a:sym typeface="Arita Dotum Bold"/>
              </a:rPr>
              <a:t>[</a:t>
            </a:r>
            <a:r>
              <a:rPr lang="ko-KR" altLang="en-US" sz="2400" b="1" dirty="0">
                <a:solidFill>
                  <a:srgbClr val="2C2C2C"/>
                </a:solidFill>
                <a:ea typeface="Arita Dotum Bold"/>
                <a:cs typeface="Arita Dotum Bold"/>
                <a:sym typeface="Arita Dotum Bold"/>
              </a:rPr>
              <a:t>웹서비스 기능</a:t>
            </a:r>
            <a:r>
              <a:rPr lang="en-US" sz="2400" b="1" dirty="0">
                <a:solidFill>
                  <a:srgbClr val="2C2C2C"/>
                </a:solidFill>
                <a:ea typeface="FZShuTi" panose="02010601030101010101" pitchFamily="2" charset="-122"/>
                <a:cs typeface="Arita Dotum Bold"/>
                <a:sym typeface="Arita Dotum Bold"/>
              </a:rPr>
              <a:t>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1AD797-F16D-BB58-A0AA-32F1A2832214}"/>
              </a:ext>
            </a:extLst>
          </p:cNvPr>
          <p:cNvSpPr txBox="1"/>
          <p:nvPr/>
        </p:nvSpPr>
        <p:spPr>
          <a:xfrm>
            <a:off x="4227679" y="4343250"/>
            <a:ext cx="9074727" cy="1607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3223" lvl="1" indent="-341612" algn="l">
              <a:lnSpc>
                <a:spcPts val="4430"/>
              </a:lnSpc>
              <a:buFont typeface="Arial"/>
              <a:buChar char="•"/>
            </a:pP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통계 분석</a:t>
            </a:r>
            <a:endParaRPr lang="en-US" altLang="ko-KR" sz="2000" dirty="0">
              <a:solidFill>
                <a:srgbClr val="2C2C2C"/>
              </a:solidFill>
              <a:ea typeface="Arita Dotum Medium"/>
              <a:cs typeface="Arita Dotum Medium"/>
              <a:sym typeface="Arita Dotum Medium"/>
            </a:endParaRPr>
          </a:p>
          <a:p>
            <a:pPr marL="683223" lvl="1" indent="-341612" algn="l">
              <a:lnSpc>
                <a:spcPts val="4430"/>
              </a:lnSpc>
              <a:buFont typeface="Arial"/>
              <a:buChar char="•"/>
            </a:pP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유역 관리</a:t>
            </a:r>
            <a:endParaRPr lang="en-US" altLang="ko-KR" sz="2000" dirty="0">
              <a:solidFill>
                <a:srgbClr val="2C2C2C"/>
              </a:solidFill>
              <a:ea typeface="Arita Dotum Medium"/>
              <a:cs typeface="Arita Dotum Medium"/>
              <a:sym typeface="Arita Dotum Medium"/>
            </a:endParaRPr>
          </a:p>
          <a:p>
            <a:pPr marL="683223" lvl="1" indent="-341612" algn="l">
              <a:lnSpc>
                <a:spcPts val="4430"/>
              </a:lnSpc>
              <a:buFont typeface="Arial"/>
              <a:buChar char="•"/>
            </a:pP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시스템 로그</a:t>
            </a:r>
            <a:endParaRPr lang="en-US" sz="2000" dirty="0">
              <a:solidFill>
                <a:srgbClr val="2C2C2C"/>
              </a:solidFill>
              <a:ea typeface="Arita Dotum Medium"/>
              <a:cs typeface="Arita Dotum Medium"/>
              <a:sym typeface="Arita Dotum Medium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A696BB7-7EC9-93C3-F2EF-B583B70AB066}"/>
              </a:ext>
            </a:extLst>
          </p:cNvPr>
          <p:cNvCxnSpPr>
            <a:cxnSpLocks/>
          </p:cNvCxnSpPr>
          <p:nvPr/>
        </p:nvCxnSpPr>
        <p:spPr>
          <a:xfrm flipV="1">
            <a:off x="0" y="3696759"/>
            <a:ext cx="12252960" cy="696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6CB9F041-C934-0D28-FB52-51DBF63B4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474" y="4142359"/>
            <a:ext cx="4983585" cy="239096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4F77189-7328-6D3B-554D-228C102B0CE8}"/>
              </a:ext>
            </a:extLst>
          </p:cNvPr>
          <p:cNvSpPr txBox="1"/>
          <p:nvPr/>
        </p:nvSpPr>
        <p:spPr>
          <a:xfrm>
            <a:off x="3189514" y="3246511"/>
            <a:ext cx="6744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6CD4D11-53AB-3D0D-F8F4-DE92186C5A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721" y="803010"/>
            <a:ext cx="5381641" cy="2640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715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EB6D5-3764-FB3A-500F-1696B0544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8">
            <a:extLst>
              <a:ext uri="{FF2B5EF4-FFF2-40B4-BE49-F238E27FC236}">
                <a16:creationId xmlns:a16="http://schemas.microsoft.com/office/drawing/2014/main" id="{0BBBA88C-C5D7-67EE-8357-99A17B1C32C6}"/>
              </a:ext>
            </a:extLst>
          </p:cNvPr>
          <p:cNvGrpSpPr/>
          <p:nvPr/>
        </p:nvGrpSpPr>
        <p:grpSpPr>
          <a:xfrm>
            <a:off x="0" y="821478"/>
            <a:ext cx="9074727" cy="2251068"/>
            <a:chOff x="-1247308" y="-2160150"/>
            <a:chExt cx="12099635" cy="3001425"/>
          </a:xfrm>
        </p:grpSpPr>
        <p:sp>
          <p:nvSpPr>
            <p:cNvPr id="4" name="TextBox 9">
              <a:extLst>
                <a:ext uri="{FF2B5EF4-FFF2-40B4-BE49-F238E27FC236}">
                  <a16:creationId xmlns:a16="http://schemas.microsoft.com/office/drawing/2014/main" id="{EC43D7E2-5E5C-E993-AE2C-61B5C3E8B39C}"/>
                </a:ext>
              </a:extLst>
            </p:cNvPr>
            <p:cNvSpPr txBox="1"/>
            <p:nvPr/>
          </p:nvSpPr>
          <p:spPr>
            <a:xfrm>
              <a:off x="-1247308" y="-1302219"/>
              <a:ext cx="12099635" cy="21434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3223" lvl="1" indent="-341612" algn="l">
                <a:lnSpc>
                  <a:spcPts val="443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1</a:t>
              </a:r>
              <a:r>
                <a:rPr lang="ko-KR" altLang="en-US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차 어류 탐지 모델 정확도 약 </a:t>
              </a:r>
              <a:r>
                <a:rPr lang="en-US" altLang="ko-KR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97%</a:t>
              </a:r>
            </a:p>
            <a:p>
              <a:pPr marL="683223" lvl="1" indent="-341612" algn="l">
                <a:lnSpc>
                  <a:spcPts val="443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2</a:t>
              </a:r>
              <a:r>
                <a:rPr lang="ko-KR" altLang="en-US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차 </a:t>
              </a:r>
              <a:r>
                <a:rPr lang="ko-KR" altLang="en-US" sz="2000" dirty="0" err="1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강준치</a:t>
              </a:r>
              <a:r>
                <a:rPr lang="ko-KR" altLang="en-US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 분류 모델 정확도 약 </a:t>
              </a:r>
              <a:r>
                <a:rPr lang="en-US" altLang="ko-KR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98%</a:t>
              </a:r>
            </a:p>
            <a:p>
              <a:pPr marL="683223" lvl="1" indent="-341612" algn="l">
                <a:lnSpc>
                  <a:spcPts val="4430"/>
                </a:lnSpc>
                <a:buFont typeface="Arial"/>
                <a:buChar char="•"/>
              </a:pPr>
              <a:r>
                <a:rPr lang="ko-KR" altLang="en-US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영상 속 </a:t>
              </a:r>
              <a:r>
                <a:rPr lang="ko-KR" altLang="en-US" sz="2000" dirty="0" err="1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강준치</a:t>
              </a:r>
              <a:r>
                <a:rPr lang="ko-KR" altLang="en-US" sz="2000" dirty="0">
                  <a:solidFill>
                    <a:srgbClr val="2C2C2C"/>
                  </a:solidFill>
                  <a:ea typeface="Arita Dotum Medium"/>
                  <a:cs typeface="Arita Dotum Medium"/>
                  <a:sym typeface="Arita Dotum Medium"/>
                </a:rPr>
                <a:t> 개체 수 산출 가능</a:t>
              </a:r>
              <a:endParaRPr 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endParaRPr>
            </a:p>
          </p:txBody>
        </p:sp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8D1CC779-857B-C3AE-DAA7-2430E63C1989}"/>
                </a:ext>
              </a:extLst>
            </p:cNvPr>
            <p:cNvSpPr txBox="1"/>
            <p:nvPr/>
          </p:nvSpPr>
          <p:spPr>
            <a:xfrm>
              <a:off x="-745713" y="-2160150"/>
              <a:ext cx="8397089" cy="8333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759"/>
                </a:lnSpc>
              </a:pPr>
              <a:r>
                <a:rPr lang="en-US" sz="2400" b="1" dirty="0">
                  <a:solidFill>
                    <a:srgbClr val="2C2C2C"/>
                  </a:solidFill>
                  <a:ea typeface="Arita Dotum Bold"/>
                  <a:cs typeface="Arita Dotum Bold"/>
                  <a:sym typeface="Arita Dotum Bold"/>
                </a:rPr>
                <a:t>[AI </a:t>
              </a:r>
              <a:r>
                <a:rPr lang="ko-KR" altLang="en-US" sz="2400" b="1" dirty="0">
                  <a:solidFill>
                    <a:srgbClr val="2C2C2C"/>
                  </a:solidFill>
                  <a:ea typeface="Arita Dotum Bold"/>
                  <a:cs typeface="Arita Dotum Bold"/>
                  <a:sym typeface="Arita Dotum Bold"/>
                </a:rPr>
                <a:t>모델 성능</a:t>
              </a:r>
              <a:r>
                <a:rPr lang="en-US" sz="2400" b="1" dirty="0">
                  <a:solidFill>
                    <a:srgbClr val="2C2C2C"/>
                  </a:solidFill>
                  <a:ea typeface="Arita Dotum Bold"/>
                  <a:cs typeface="Arita Dotum Bold"/>
                  <a:sym typeface="Arita Dotum Bold"/>
                </a:rPr>
                <a:t>]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EBDFCC1-79F9-8D4D-A770-BFCA6561CCAA}"/>
              </a:ext>
            </a:extLst>
          </p:cNvPr>
          <p:cNvSpPr txBox="1"/>
          <p:nvPr/>
        </p:nvSpPr>
        <p:spPr>
          <a:xfrm>
            <a:off x="-130063" y="4042548"/>
            <a:ext cx="5825595" cy="21718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3223" lvl="1" indent="-341612" algn="l">
              <a:lnSpc>
                <a:spcPts val="4430"/>
              </a:lnSpc>
              <a:buFont typeface="Arial"/>
              <a:buChar char="•"/>
            </a:pP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영상 업로드부터 </a:t>
            </a:r>
            <a:r>
              <a:rPr lang="en-US" altLang="ko-KR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AI </a:t>
            </a: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분석</a:t>
            </a:r>
            <a:r>
              <a:rPr lang="en-US" altLang="ko-KR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, </a:t>
            </a: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결과 저장</a:t>
            </a:r>
            <a:r>
              <a:rPr lang="en-US" altLang="ko-KR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, </a:t>
            </a: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시각화까지 연결</a:t>
            </a:r>
            <a:endParaRPr lang="en-US" altLang="ko-KR" sz="2000" dirty="0">
              <a:solidFill>
                <a:srgbClr val="2C2C2C"/>
              </a:solidFill>
              <a:ea typeface="Arita Dotum Medium"/>
              <a:cs typeface="Arita Dotum Medium"/>
              <a:sym typeface="Arita Dotum Medium"/>
            </a:endParaRPr>
          </a:p>
          <a:p>
            <a:pPr marL="683223" lvl="1" indent="-341612" algn="l">
              <a:lnSpc>
                <a:spcPts val="4430"/>
              </a:lnSpc>
              <a:buFont typeface="Arial"/>
              <a:buChar char="•"/>
            </a:pPr>
            <a:r>
              <a:rPr lang="ko-KR" altLang="en-US" sz="2000" dirty="0" err="1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프론트엔드</a:t>
            </a:r>
            <a:r>
              <a:rPr lang="en-US" altLang="ko-KR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, </a:t>
            </a:r>
            <a:r>
              <a:rPr lang="ko-KR" altLang="en-US" sz="2000" dirty="0" err="1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백엔드</a:t>
            </a:r>
            <a:r>
              <a:rPr lang="en-US" altLang="ko-KR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, AI </a:t>
            </a: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추론 서버 연동 완료</a:t>
            </a:r>
            <a:endParaRPr lang="en-US" altLang="ko-KR" sz="2000" dirty="0">
              <a:solidFill>
                <a:srgbClr val="2C2C2C"/>
              </a:solidFill>
              <a:ea typeface="Arita Dotum Medium"/>
              <a:cs typeface="Arita Dotum Medium"/>
              <a:sym typeface="Arita Dotum Medium"/>
            </a:endParaRPr>
          </a:p>
          <a:p>
            <a:pPr marL="683223" lvl="1" indent="-341612" algn="l">
              <a:lnSpc>
                <a:spcPts val="4430"/>
              </a:lnSpc>
              <a:buFont typeface="Arial"/>
              <a:buChar char="•"/>
            </a:pP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유역별 </a:t>
            </a:r>
            <a:r>
              <a:rPr lang="ko-KR" altLang="en-US" sz="2000" dirty="0" err="1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강준치</a:t>
            </a: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 분포와 위험도 확인 가능</a:t>
            </a:r>
            <a:endParaRPr lang="en-US" sz="2000" dirty="0">
              <a:solidFill>
                <a:srgbClr val="2C2C2C"/>
              </a:solidFill>
              <a:ea typeface="Arita Dotum Medium"/>
              <a:cs typeface="Arita Dotum Medium"/>
              <a:sym typeface="Arita Dotum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F98ED0-CC4E-5855-6DC9-43F5F0B2391F}"/>
              </a:ext>
            </a:extLst>
          </p:cNvPr>
          <p:cNvSpPr txBox="1"/>
          <p:nvPr/>
        </p:nvSpPr>
        <p:spPr>
          <a:xfrm>
            <a:off x="312025" y="3496890"/>
            <a:ext cx="6297817" cy="62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2400" b="1" dirty="0">
                <a:solidFill>
                  <a:srgbClr val="2C2C2C"/>
                </a:solidFill>
                <a:ea typeface="Arita Dotum Bold"/>
                <a:cs typeface="Arita Dotum Bold"/>
                <a:sym typeface="Arita Dotum Bold"/>
              </a:rPr>
              <a:t>[</a:t>
            </a:r>
            <a:r>
              <a:rPr lang="ko-KR" altLang="en-US" sz="2400" b="1" dirty="0">
                <a:solidFill>
                  <a:srgbClr val="2C2C2C"/>
                </a:solidFill>
                <a:ea typeface="Arita Dotum Bold"/>
                <a:cs typeface="Arita Dotum Bold"/>
                <a:sym typeface="Arita Dotum Bold"/>
              </a:rPr>
              <a:t>시스템 구축 결과</a:t>
            </a:r>
            <a:r>
              <a:rPr lang="en-US" sz="2400" b="1" dirty="0">
                <a:solidFill>
                  <a:srgbClr val="2C2C2C"/>
                </a:solidFill>
                <a:ea typeface="Arita Dotum Bold"/>
                <a:cs typeface="Arita Dotum Bold"/>
                <a:sym typeface="Arita Dotum Bold"/>
              </a:rPr>
              <a:t>]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5E8BACA-EF64-D12E-D0DC-490690087FA0}"/>
              </a:ext>
            </a:extLst>
          </p:cNvPr>
          <p:cNvCxnSpPr>
            <a:cxnSpLocks/>
          </p:cNvCxnSpPr>
          <p:nvPr/>
        </p:nvCxnSpPr>
        <p:spPr>
          <a:xfrm>
            <a:off x="-130063" y="3496890"/>
            <a:ext cx="57299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7">
            <a:extLst>
              <a:ext uri="{FF2B5EF4-FFF2-40B4-BE49-F238E27FC236}">
                <a16:creationId xmlns:a16="http://schemas.microsoft.com/office/drawing/2014/main" id="{4272FA64-80EF-A503-515C-A05D6CD6B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2238" y="538665"/>
            <a:ext cx="403998" cy="124691"/>
          </a:xfrm>
          <a:prstGeom prst="rect">
            <a:avLst/>
          </a:prstGeom>
        </p:spPr>
      </p:pic>
      <p:sp>
        <p:nvSpPr>
          <p:cNvPr id="9" name="TextBox 18">
            <a:extLst>
              <a:ext uri="{FF2B5EF4-FFF2-40B4-BE49-F238E27FC236}">
                <a16:creationId xmlns:a16="http://schemas.microsoft.com/office/drawing/2014/main" id="{11C86B4C-4BAC-E262-9D78-C68BC421686C}"/>
              </a:ext>
            </a:extLst>
          </p:cNvPr>
          <p:cNvSpPr txBox="1"/>
          <p:nvPr/>
        </p:nvSpPr>
        <p:spPr>
          <a:xfrm>
            <a:off x="847898" y="432811"/>
            <a:ext cx="4197928" cy="41508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ko-KR" altLang="en-US" sz="2000" b="1" dirty="0">
                <a:solidFill>
                  <a:srgbClr val="1C5E8D"/>
                </a:solidFill>
              </a:rPr>
              <a:t>프로젝트 결과</a:t>
            </a:r>
            <a:endParaRPr lang="ko-KR" sz="2000" b="1" i="0" u="none" strike="noStrike" dirty="0">
              <a:solidFill>
                <a:srgbClr val="1C5E8D"/>
              </a:solidFill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D7A4062-F9A8-FA8A-37FA-730F68BEB88E}"/>
              </a:ext>
            </a:extLst>
          </p:cNvPr>
          <p:cNvCxnSpPr>
            <a:cxnSpLocks/>
          </p:cNvCxnSpPr>
          <p:nvPr/>
        </p:nvCxnSpPr>
        <p:spPr>
          <a:xfrm flipH="1">
            <a:off x="5599886" y="3496889"/>
            <a:ext cx="5862" cy="3486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EA9D2FC-EA95-5F25-CB74-C54389E16B43}"/>
              </a:ext>
            </a:extLst>
          </p:cNvPr>
          <p:cNvSpPr txBox="1"/>
          <p:nvPr/>
        </p:nvSpPr>
        <p:spPr>
          <a:xfrm>
            <a:off x="4875115" y="615419"/>
            <a:ext cx="7316885" cy="17871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3223" lvl="1" indent="-341612" algn="l">
              <a:lnSpc>
                <a:spcPct val="150000"/>
              </a:lnSpc>
              <a:buFont typeface="Arial"/>
              <a:buChar char="•"/>
            </a:pP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사용자는 웹에서 영상을 업로드하고 분석 결과 확인 가능</a:t>
            </a:r>
            <a:endParaRPr lang="en-US" altLang="ko-KR" sz="2000" dirty="0">
              <a:solidFill>
                <a:srgbClr val="2C2C2C"/>
              </a:solidFill>
              <a:ea typeface="Arita Dotum Medium"/>
              <a:cs typeface="Arita Dotum Medium"/>
              <a:sym typeface="Arita Dotum Medium"/>
            </a:endParaRPr>
          </a:p>
          <a:p>
            <a:pPr marL="683223" lvl="1" indent="-341612" algn="l">
              <a:lnSpc>
                <a:spcPct val="150000"/>
              </a:lnSpc>
              <a:buFont typeface="Arial"/>
              <a:buChar char="•"/>
            </a:pP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대시보드와 통계 페이지를 통해 분석 결과를 직관적으로 파악 가능</a:t>
            </a:r>
            <a:endParaRPr lang="en-US" altLang="ko-KR" sz="2000" dirty="0">
              <a:solidFill>
                <a:srgbClr val="2C2C2C"/>
              </a:solidFill>
              <a:ea typeface="Arita Dotum Medium"/>
              <a:cs typeface="Arita Dotum Medium"/>
              <a:sym typeface="Arita Dotum Medium"/>
            </a:endParaRPr>
          </a:p>
          <a:p>
            <a:pPr marL="683223" lvl="1" indent="-341612" algn="l">
              <a:lnSpc>
                <a:spcPct val="150000"/>
              </a:lnSpc>
              <a:buFont typeface="Arial"/>
              <a:buChar char="•"/>
            </a:pP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유역 관리와 기록 조회 기능으로 데이터 관리 편의성 향상</a:t>
            </a:r>
            <a:endParaRPr lang="en-US" sz="2000" dirty="0">
              <a:solidFill>
                <a:srgbClr val="2C2C2C"/>
              </a:solidFill>
              <a:ea typeface="Arita Dotum Medium"/>
              <a:cs typeface="Arita Dotum Medium"/>
              <a:sym typeface="Arita Dotum Medium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FA9283-63C1-D58D-41FB-0FB881648496}"/>
              </a:ext>
            </a:extLst>
          </p:cNvPr>
          <p:cNvSpPr txBox="1"/>
          <p:nvPr/>
        </p:nvSpPr>
        <p:spPr>
          <a:xfrm>
            <a:off x="5187141" y="-72787"/>
            <a:ext cx="9225012" cy="6249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2400" b="1" dirty="0">
                <a:solidFill>
                  <a:srgbClr val="2C2C2C"/>
                </a:solidFill>
                <a:ea typeface="Arita Dotum Bold"/>
                <a:cs typeface="Arita Dotum Bold"/>
                <a:sym typeface="Arita Dotum Bold"/>
              </a:rPr>
              <a:t>[</a:t>
            </a:r>
            <a:r>
              <a:rPr lang="ko-KR" altLang="en-US" sz="2400" b="1" dirty="0">
                <a:solidFill>
                  <a:srgbClr val="2C2C2C"/>
                </a:solidFill>
                <a:ea typeface="Arita Dotum Bold"/>
                <a:cs typeface="Arita Dotum Bold"/>
                <a:sym typeface="Arita Dotum Bold"/>
              </a:rPr>
              <a:t>시스템 구축 결과</a:t>
            </a:r>
            <a:r>
              <a:rPr lang="en-US" sz="2400" b="1" dirty="0">
                <a:solidFill>
                  <a:srgbClr val="2C2C2C"/>
                </a:solidFill>
                <a:ea typeface="Arita Dotum Bold"/>
                <a:cs typeface="Arita Dotum Bold"/>
                <a:sym typeface="Arita Dotum Bold"/>
              </a:rPr>
              <a:t>]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C6DD7B3-7CCC-0317-E144-69F9CD4AA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673" y="2578034"/>
            <a:ext cx="2942991" cy="1908446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78DE432-40C5-AE4F-2868-63F8E7B0406A}"/>
              </a:ext>
            </a:extLst>
          </p:cNvPr>
          <p:cNvCxnSpPr>
            <a:cxnSpLocks/>
          </p:cNvCxnSpPr>
          <p:nvPr/>
        </p:nvCxnSpPr>
        <p:spPr>
          <a:xfrm flipH="1">
            <a:off x="5003804" y="10369"/>
            <a:ext cx="5862" cy="3486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87ADB926-C697-DB19-6A52-A089F1E7E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8720" y="2585183"/>
            <a:ext cx="2953281" cy="190129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92C940E5-3F7C-E3D7-337F-35A7421BAB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059" y="4528066"/>
            <a:ext cx="4353321" cy="217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211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581891" y="4605251"/>
            <a:ext cx="11039302" cy="180386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706582" y="4691573"/>
            <a:ext cx="106384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○ </a:t>
            </a:r>
            <a:r>
              <a:rPr lang="ko-KR" altLang="ko-KR" sz="2000" dirty="0"/>
              <a:t>기존 수작업 중심의 어류(</a:t>
            </a:r>
            <a:r>
              <a:rPr lang="ko-KR" altLang="ko-KR" sz="2000" dirty="0" err="1"/>
              <a:t>강준치</a:t>
            </a:r>
            <a:r>
              <a:rPr lang="ko-KR" altLang="ko-KR" sz="2000" dirty="0"/>
              <a:t>) 개체 확인 과정을 자동화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○ </a:t>
            </a:r>
            <a:r>
              <a:rPr lang="ko-KR" altLang="ko-KR" sz="2000" dirty="0"/>
              <a:t>유역별 </a:t>
            </a:r>
            <a:r>
              <a:rPr lang="ko-KR" altLang="ko-KR" sz="2000" dirty="0" err="1"/>
              <a:t>강준치</a:t>
            </a:r>
            <a:r>
              <a:rPr lang="ko-KR" altLang="ko-KR" sz="2000" dirty="0"/>
              <a:t> 출현 현황을 직관적으로 파악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○ </a:t>
            </a:r>
            <a:r>
              <a:rPr lang="ko-KR" altLang="ko-KR" sz="2000" dirty="0"/>
              <a:t>생태계 모니터링 및 관리 의사결정 지원 가능</a:t>
            </a:r>
            <a:endParaRPr lang="en-US" altLang="ko-KR" sz="2000" dirty="0"/>
          </a:p>
        </p:txBody>
      </p:sp>
      <p:grpSp>
        <p:nvGrpSpPr>
          <p:cNvPr id="20" name="그룹 19"/>
          <p:cNvGrpSpPr/>
          <p:nvPr/>
        </p:nvGrpSpPr>
        <p:grpSpPr>
          <a:xfrm>
            <a:off x="581891" y="4015048"/>
            <a:ext cx="4463934" cy="448887"/>
            <a:chOff x="627842" y="1492250"/>
            <a:chExt cx="2664888" cy="444500"/>
          </a:xfrm>
        </p:grpSpPr>
        <p:pic>
          <p:nvPicPr>
            <p:cNvPr id="21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22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i="0" u="none" strike="noStrike" dirty="0">
                  <a:solidFill>
                    <a:srgbClr val="1C5E8D"/>
                  </a:solidFill>
                </a:rPr>
                <a:t>기대 효과</a:t>
              </a:r>
              <a:endParaRPr lang="ko-KR" sz="2000" b="1" i="0" u="none" strike="noStrike" dirty="0">
                <a:solidFill>
                  <a:srgbClr val="1C5E8D"/>
                </a:solidFill>
              </a:endParaRPr>
            </a:p>
          </p:txBody>
        </p:sp>
      </p:grpSp>
      <p:sp>
        <p:nvSpPr>
          <p:cNvPr id="10" name="직사각형 9"/>
          <p:cNvSpPr/>
          <p:nvPr/>
        </p:nvSpPr>
        <p:spPr>
          <a:xfrm>
            <a:off x="581891" y="1026664"/>
            <a:ext cx="11039302" cy="253118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/>
          <p:cNvGrpSpPr/>
          <p:nvPr/>
        </p:nvGrpSpPr>
        <p:grpSpPr>
          <a:xfrm>
            <a:off x="581891" y="436460"/>
            <a:ext cx="4463934" cy="448887"/>
            <a:chOff x="627842" y="1492250"/>
            <a:chExt cx="2664888" cy="444500"/>
          </a:xfrm>
        </p:grpSpPr>
        <p:pic>
          <p:nvPicPr>
            <p:cNvPr id="13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14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</a:rPr>
                <a:t>실적 산출</a:t>
              </a:r>
              <a:endParaRPr lang="ko-KR" sz="2000" b="1" i="0" u="none" strike="noStrike" dirty="0">
                <a:solidFill>
                  <a:srgbClr val="1C5E8D"/>
                </a:solidFill>
              </a:endParaRPr>
            </a:p>
          </p:txBody>
        </p:sp>
      </p:grpSp>
      <p:sp>
        <p:nvSpPr>
          <p:cNvPr id="2" name="TextBox 9">
            <a:extLst>
              <a:ext uri="{FF2B5EF4-FFF2-40B4-BE49-F238E27FC236}">
                <a16:creationId xmlns:a16="http://schemas.microsoft.com/office/drawing/2014/main" id="{761BEEF4-78BB-FA3D-868E-A38B5862F1EE}"/>
              </a:ext>
            </a:extLst>
          </p:cNvPr>
          <p:cNvSpPr txBox="1"/>
          <p:nvPr/>
        </p:nvSpPr>
        <p:spPr>
          <a:xfrm>
            <a:off x="546368" y="1799589"/>
            <a:ext cx="7286453" cy="1043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3223" lvl="1" indent="-341612" algn="l">
              <a:lnSpc>
                <a:spcPts val="4430"/>
              </a:lnSpc>
              <a:buFont typeface="Arial"/>
              <a:buChar char="•"/>
            </a:pP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한국 정보기술학회에서 열리는 </a:t>
            </a:r>
            <a:r>
              <a:rPr lang="en-US" altLang="ko-KR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2026 </a:t>
            </a: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하계종합학술대회의 대학생 논문 경진대회에 논문 투고</a:t>
            </a:r>
            <a:r>
              <a:rPr lang="en-US" altLang="ko-KR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,</a:t>
            </a:r>
            <a:r>
              <a:rPr lang="ko-KR" altLang="en-US" sz="2000" dirty="0">
                <a:solidFill>
                  <a:srgbClr val="2C2C2C"/>
                </a:solidFill>
                <a:ea typeface="Arita Dotum Medium"/>
                <a:cs typeface="Arita Dotum Medium"/>
                <a:sym typeface="Arita Dotum Medium"/>
              </a:rPr>
              <a:t> 온라인 발표 진행</a:t>
            </a:r>
            <a:endParaRPr lang="en-US" sz="2000" dirty="0">
              <a:solidFill>
                <a:srgbClr val="2C2C2C"/>
              </a:solidFill>
              <a:ea typeface="Arita Dotum Medium"/>
              <a:cs typeface="Arita Dotum Medium"/>
              <a:sym typeface="Arita Dotum Medium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67AA930-35EF-505D-2BB5-F16C2AE63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783" y="1451992"/>
            <a:ext cx="3906326" cy="178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3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289</Words>
  <Application>Microsoft Office PowerPoint</Application>
  <PresentationFormat>와이드스크린</PresentationFormat>
  <Paragraphs>52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Arita Dotum Bold</vt:lpstr>
      <vt:lpstr>Arita Dotum Medium</vt:lpstr>
      <vt:lpstr>FZShuTi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소프트웨어교육원</dc:creator>
  <cp:lastModifiedBy>노성은</cp:lastModifiedBy>
  <cp:revision>11</cp:revision>
  <dcterms:created xsi:type="dcterms:W3CDTF">2025-05-26T08:38:07Z</dcterms:created>
  <dcterms:modified xsi:type="dcterms:W3CDTF">2026-06-05T06:03:05Z</dcterms:modified>
</cp:coreProperties>
</file>